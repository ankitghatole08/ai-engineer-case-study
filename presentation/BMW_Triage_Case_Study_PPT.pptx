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1476" autoAdjust="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6672"/>
                </a:solidFill>
                <a:latin typeface="Calibri"/>
              </a:defRPr>
            </a:pPr>
            <a:r>
              <a:rPr lang="en-IN" sz="1300" b="1" i="0" u="none" strike="noStrike" dirty="0">
                <a:solidFill>
                  <a:srgbClr val="5A6672"/>
                </a:solidFill>
                <a:latin typeface="Calibri"/>
              </a:rPr>
              <a:t>Category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held out</c:v>
                </c:pt>
              </c:strCache>
            </c:strRef>
          </c:tx>
          <c:spPr>
            <a:solidFill>
              <a:srgbClr val="1F7A7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k-NN alone</c:v>
                </c:pt>
                <c:pt idx="2">
                  <c:v>System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19.3</c:v>
                </c:pt>
                <c:pt idx="1">
                  <c:v>90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4B-44AF-9D34-ADED314BEE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 held out</c:v>
                </c:pt>
              </c:strCache>
            </c:strRef>
          </c:tx>
          <c:spPr>
            <a:solidFill>
              <a:srgbClr val="6B3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k-NN alone</c:v>
                </c:pt>
                <c:pt idx="2">
                  <c:v>System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19.600000000000001</c:v>
                </c:pt>
                <c:pt idx="1">
                  <c:v>96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4B-44AF-9D34-ADED314BEE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4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6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47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2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12848"/>
            <a:ext cx="82296" cy="1417320"/>
          </a:xfrm>
          <a:prstGeom prst="rect">
            <a:avLst/>
          </a:prstGeom>
          <a:solidFill>
            <a:srgbClr val="1F7A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2103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Inquiry Triage Assistant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9992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classification with human-in-the-loop escalation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4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Ghatole   ·   AI Engineer Case Study   ·   Customer Journey Analytics   ·   11 September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inquiry is sorted by a human before anyone can help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58368" cy="65836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1F7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0992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per message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2082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about, how urgent is it, which team owns it before any actual work begins.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770632"/>
            <a:ext cx="658368" cy="65836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1F7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7889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 route it differently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0998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can route the same message differently. Quality depends on who opens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849624"/>
            <a:ext cx="658368" cy="65836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1F7A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8496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86791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17880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grows, triage time grows with it. Expert hours go to clerical work.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26680" y="1691640"/>
            <a:ext cx="3913632" cy="3127248"/>
          </a:xfrm>
          <a:prstGeom prst="roundRect">
            <a:avLst>
              <a:gd name="adj" fmla="val 2632"/>
            </a:avLst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AI answering customers.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108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doing the sorting, so specialists spend their time resolving rather than reading.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an automotive company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719072"/>
            <a:ext cx="201168" cy="201168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" y="16459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messages are safety issues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97510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brakes are grinding” is not “my invoice is wrong.” If the first one sits in the wrong queue, that's a safety problem.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" y="2926080"/>
            <a:ext cx="201168" cy="201168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285292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touch a lot of systems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1821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Configurator, ordering, financing, warranty, dealer service, the car's software. Eight categories, eight places to get stuck.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" y="4133088"/>
            <a:ext cx="201168" cy="201168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40599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counts more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891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buy a car once in years, not once a week. One bad experience carries a lot of weight.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645920"/>
            <a:ext cx="4187952" cy="3520440"/>
          </a:xfrm>
          <a:prstGeom prst="roundRect">
            <a:avLst>
              <a:gd name="adj" fmla="val 2338"/>
            </a:avLst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VALUE LANDS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2377440"/>
            <a:ext cx="64008" cy="566928"/>
          </a:xfrm>
          <a:prstGeom prst="rect">
            <a:avLst/>
          </a:prstGeom>
          <a:solidFill>
            <a:srgbClr val="1F7A7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28432" y="23317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2843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human reading → few seconds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0" y="3310128"/>
            <a:ext cx="64008" cy="56692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28432" y="32644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28432" y="35570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inquiry, same routing, every time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0" y="4242816"/>
            <a:ext cx="64008" cy="566928"/>
          </a:xfrm>
          <a:prstGeom prst="rect">
            <a:avLst/>
          </a:prstGeom>
          <a:solidFill>
            <a:srgbClr val="C777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28432" y="41970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28432" y="448970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specialist first, fewer handoffs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54406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gets something wrong, a ticket lands in the wrong queue and a human notices. If a customer-facing chatbot gets something wrong, the customer gets the wrong answer.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message in, a full triage decision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·  query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482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brakes are grinding and it feels unsafe to drive.”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072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·  six further fields, fixed format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419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4198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703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7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986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routed_queue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9867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Scheduling Team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270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0.89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553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resolution_notes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5537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the customer immediately to book an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8371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 brake inspection. Advise them not to drive.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120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retrieved_cases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5120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similar past cases, with labels and scores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742432"/>
            <a:ext cx="11064240" cy="502920"/>
          </a:xfrm>
          <a:prstGeom prst="roundRect">
            <a:avLst>
              <a:gd name="adj" fmla="val 12727"/>
            </a:avLst>
          </a:prstGeom>
          <a:solidFill>
            <a:srgbClr val="FDF3E2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57424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 —  when confidence falls below the threshold, the result is flagged for review. It is never withheld.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once, then two API calls per inquiry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4BC68-3A7F-3735-5C06-770ECC992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77" y="1012148"/>
            <a:ext cx="10981765" cy="5432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category is predicted twice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one classifier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49225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confidence signal available is asking the model how sure it is.</a:t>
            </a:r>
          </a:p>
          <a:p>
            <a:pPr marL="0" indent="0">
              <a:buNone/>
            </a:pPr>
            <a:endParaRPr lang="en-US" sz="1350" dirty="0">
              <a:solidFill>
                <a:srgbClr val="5A66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are poorly calibrated they report high confidence while being wrong. </a:t>
            </a:r>
          </a:p>
          <a:p>
            <a:pPr marL="0" indent="0">
              <a:buNone/>
            </a:pPr>
            <a:endParaRPr lang="en-US" sz="1350" dirty="0">
              <a:solidFill>
                <a:srgbClr val="5A66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asking the model to catch its own mistakes.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6208" y="1627632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810512"/>
            <a:ext cx="49343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two classifiers that see different things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051473"/>
            <a:ext cx="4934373" cy="152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agreement means something. Two methods reached the same answer from different evidence.</a:t>
            </a:r>
          </a:p>
          <a:p>
            <a:endParaRPr lang="en-US" sz="1350" dirty="0">
              <a:solidFill>
                <a:srgbClr val="C3CED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5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disagreement means the past cases and the written definitions genuinely point different ways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16052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FDF3E2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3342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caught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268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price in the configurator does not match what I was invoiced.”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9262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retrieved past case by KNN was labelled configurator. The LLM model read “invoiced” and chose billing. </a:t>
            </a:r>
          </a:p>
          <a:p>
            <a:pPr marL="0" indent="0">
              <a:buNone/>
            </a:pPr>
            <a:endParaRPr lang="en-US" sz="1300" dirty="0">
              <a:solidFill>
                <a:srgbClr val="8A52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fell to 0.46 and it was flagged for review. A single classifier would have answered confidently and given no sign anything was ambiguous.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classifiers, and how they fail differently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94960" cy="2971800"/>
          </a:xfrm>
          <a:prstGeom prst="roundRect">
            <a:avLst>
              <a:gd name="adj" fmla="val 2769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874520"/>
            <a:ext cx="310896" cy="310896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4168" y="18470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k-NN vote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286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category labels of the retrieved past cases, weighted by similarity.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8803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 300 labelled past cases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nothing - retrieval already happened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 nothing similar exists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6208" y="1627632"/>
            <a:ext cx="5394960" cy="2971800"/>
          </a:xfrm>
          <a:prstGeom prst="roundRect">
            <a:avLst>
              <a:gd name="adj" fmla="val 2769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874520"/>
            <a:ext cx="310896" cy="310896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13448" y="18470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classification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6248" y="2286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inquiry against the eight taxonomy definitions and returns one name.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28803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 8 category definitions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 new category immediately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where definitions overlap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11437"/>
            <a:ext cx="11064240" cy="1426464"/>
          </a:xfrm>
          <a:prstGeom prst="roundRect">
            <a:avLst>
              <a:gd name="adj" fmla="val 6957"/>
            </a:avLst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992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must stay independent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3431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saw the past cases, it would just repeat them. Then agreement proves nothing — one opinion counted twice.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an observation, not a self-report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3F2"/>
          </a:solidFill>
          <a:ln w="12700">
            <a:solidFill>
              <a:srgbClr val="1F7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45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= 0.5 × methods agree  +  0.3 × k-NN agreement  +  0.2 × top similarity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889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816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agree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signal drawn from two independent sources. The other two both derive from the same retrieval.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5021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agreement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547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united the neighbours were. Five out of five is far stronger evidence than three out of five.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2153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271941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similarity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41925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case where both methods agree but nothing in the knowledge base is actually close.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graph?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858000" cy="117043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state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3969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node's contribution is visible in one state object. When an inquiry is misrouted, you can see which step produced the wrong value. A chain of function calls hides that.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944368"/>
            <a:ext cx="6858000" cy="117043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1089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3814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step means adding a box, not rebuilding the pipeline.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242816"/>
            <a:ext cx="6858000" cy="117043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4074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is native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3659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flagged cases down a different path later is a fork, not a rewrite.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1645920"/>
            <a:ext cx="39502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1396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classify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798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confidence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priority_and_route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456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notes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4096512"/>
            <a:ext cx="3950208" cy="1664208"/>
          </a:xfrm>
          <a:prstGeom prst="roundRect">
            <a:avLst>
              <a:gd name="adj" fmla="val 4945"/>
            </a:avLst>
          </a:prstGeom>
          <a:solidFill>
            <a:srgbClr val="FDF3E2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4261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trade-off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572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five sequential steps, five function calls would work just as well. LangGraph earns its place in what comes next, not in what exists today.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82296" cy="1005840"/>
          </a:xfrm>
          <a:prstGeom prst="rect">
            <a:avLst/>
          </a:prstGeom>
          <a:solidFill>
            <a:srgbClr val="1F7A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24460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does it actually work?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479164428"/>
              </p:ext>
            </p:extLst>
          </p:nvPr>
        </p:nvGraphicFramePr>
        <p:xfrm>
          <a:off x="566928" y="1600200"/>
          <a:ext cx="67665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4005072" cy="1481328"/>
          </a:xfrm>
          <a:prstGeom prst="roundRect">
            <a:avLst>
              <a:gd name="adj" fmla="val 4938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accuracy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299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77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– 53%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48% baseline — barely above guessing “low” every 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35240" y="3246120"/>
            <a:ext cx="4005072" cy="1554480"/>
          </a:xfrm>
          <a:prstGeom prst="roundRect">
            <a:avLst>
              <a:gd name="adj" fmla="val 4706"/>
            </a:avLst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367588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cases are held out before the vector store is built, so they cannot retrieve their own labels.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138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100% is on clean, one-line inquiries that each fit neatly into one category. Real messages have typos and several problems at once.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not work, and why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47672"/>
            <a:ext cx="256032" cy="256032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8448" y="18745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prediction is near baseline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25856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matches on what a message is about, not how urgent it sounds. Two brake messages look the same whether one says "unsafe to drive" or "whenever convenient".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136392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92424"/>
            <a:ext cx="256032" cy="256032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98448" y="331927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formula is unvalidated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70332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were no misclassifications in the test set, so nothing for it to catch. Validating it needs a harder or larger evaluation set.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581144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 w="12700">
            <a:solidFill>
              <a:srgbClr val="D4D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837176"/>
            <a:ext cx="256032" cy="256032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98448" y="476402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produces a label, not an integration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5148072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outputs the target queue name. Routing to a real ticketing system is out of scope here.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solidFill>
            <a:srgbClr val="2C3A4A"/>
          </a:solidFill>
          <a:ln w="15875">
            <a:solidFill>
              <a:srgbClr val="1F7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8105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priority first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810512"/>
            <a:ext cx="705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second opinion, the same way category has one. Right now it's the weakest part.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633472"/>
            <a:ext cx="384048" cy="384048"/>
          </a:xfrm>
          <a:prstGeom prst="ellipse">
            <a:avLst/>
          </a:prstGeom>
          <a:solidFill>
            <a:srgbClr val="2C3A4A"/>
          </a:solidFill>
          <a:ln w="15875">
            <a:solidFill>
              <a:srgbClr val="1F7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615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confidence score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15184"/>
            <a:ext cx="705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are chosen by reasoning. With real data on what turned out right, they can be set properly.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384048" cy="384048"/>
          </a:xfrm>
          <a:prstGeom prst="ellipse">
            <a:avLst/>
          </a:prstGeom>
          <a:solidFill>
            <a:srgbClr val="2C3A4A"/>
          </a:solidFill>
          <a:ln w="15875">
            <a:solidFill>
              <a:srgbClr val="1F7A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4198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more cases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419856"/>
            <a:ext cx="705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embed new cases instead of rebuilding everything. Beyond a hundred thousand cases, the search needs a faster index.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242816"/>
            <a:ext cx="384048" cy="384048"/>
          </a:xfrm>
          <a:prstGeom prst="ellipse">
            <a:avLst/>
          </a:prstGeom>
          <a:solidFill>
            <a:srgbClr val="2C3A4A"/>
          </a:solidFill>
          <a:ln w="15875">
            <a:solidFill>
              <a:srgbClr val="1F7A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2245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in-house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224528"/>
            <a:ext cx="705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Inquiries currently go to an outside API. Swapping to a self-hosted model is a small change.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047488"/>
            <a:ext cx="384048" cy="384048"/>
          </a:xfrm>
          <a:prstGeom prst="ellipse">
            <a:avLst/>
          </a:prstGeom>
          <a:solidFill>
            <a:srgbClr val="2C3A4A"/>
          </a:solidFill>
          <a:ln w="15875">
            <a:solidFill>
              <a:srgbClr val="1F7A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029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corrections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029200"/>
            <a:ext cx="705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human fixes a flagged ticket, that's a new example. Add it, and the system improves with no retraining, because nothing was trained.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77240"/>
            <a:ext cx="82296" cy="658368"/>
          </a:xfrm>
          <a:prstGeom prst="rect">
            <a:avLst/>
          </a:prstGeom>
          <a:solidFill>
            <a:srgbClr val="1F7A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86968" y="7132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3504" y="1947672"/>
            <a:ext cx="182880" cy="182880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" y="1874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is sorting, not solving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18541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it frees people to do the actual work. And if it gets something wrong, a ticket lands in the wrong queue a human catches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" y="2880360"/>
            <a:ext cx="182880" cy="182880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280720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is decided twice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1181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that look at different things. One reads past cases, one reads the definitions. They fail in different situations, so their agreement is evidence.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" y="3813048"/>
            <a:ext cx="182880" cy="182880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373989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measured, not asked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050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from whether those two agree, not from asking the model how sure it 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" y="4745736"/>
            <a:ext cx="182880" cy="182880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" y="46725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compared to a baseline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49834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what showed me priority needs a different approach.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4"/>
          <p:cNvSpPr txBox="1"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Thank You !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17920" y="5870448"/>
            <a:ext cx="5413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493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github.com/ankitghatole08/AI-Engineer-Case-Study</a:t>
            </a:r>
            <a:endParaRPr lang="en-US" sz="1200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72E4B956-D9AD-022D-5253-016EF0793658}"/>
              </a:ext>
            </a:extLst>
          </p:cNvPr>
          <p:cNvSpPr/>
          <p:nvPr/>
        </p:nvSpPr>
        <p:spPr>
          <a:xfrm>
            <a:off x="548640" y="2331720"/>
            <a:ext cx="82296" cy="1005840"/>
          </a:xfrm>
          <a:prstGeom prst="rect">
            <a:avLst/>
          </a:prstGeom>
          <a:solidFill>
            <a:srgbClr val="1F7A70"/>
          </a:solidFill>
          <a:ln/>
        </p:spPr>
      </p:sp>
    </p:spTree>
    <p:extLst>
      <p:ext uri="{BB962C8B-B14F-4D97-AF65-F5344CB8AC3E}">
        <p14:creationId xmlns:p14="http://schemas.microsoft.com/office/powerpoint/2010/main" val="97653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1333</Words>
  <Application>Microsoft Office PowerPoint</Application>
  <PresentationFormat>Widescreen</PresentationFormat>
  <Paragraphs>175</Paragraphs>
  <Slides>15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Inquiry Triage Assistant</dc:title>
  <dc:subject>PptxGenJS Presentation</dc:subject>
  <dc:creator>Ankit Ghatole</dc:creator>
  <cp:lastModifiedBy>Ghatole, Ankit</cp:lastModifiedBy>
  <cp:revision>15</cp:revision>
  <dcterms:created xsi:type="dcterms:W3CDTF">2026-09-10T01:42:31Z</dcterms:created>
  <dcterms:modified xsi:type="dcterms:W3CDTF">2026-09-10T15:43:49Z</dcterms:modified>
</cp:coreProperties>
</file>